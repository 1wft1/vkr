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75D6E-4BC3-40DF-AE00-9503E4E7800F}" v="5" dt="2026-05-29T09:33:02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8" y="2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7324DF-028D-8C64-49A7-3752F05FD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96C51-9D49-3810-E5CF-9AEE16824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D478B-F237-31A2-5A9D-9D8299128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8EF6F3-27EC-D818-58A6-7D2D3A5B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72CAF7-BC7C-09B4-F3C5-99865E5C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41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07E32-5C24-D540-CD2B-79F6BA6F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D14C7-2663-454E-A09F-688B69FE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70A8-A9BB-8856-2A04-568BEDE4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DE6EE-B212-51C5-57C6-4ED5B0EC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07DF9-1DDD-716B-252A-8D532B41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51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8D442C-5BE0-F975-FC7E-7367397B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9915F0-2611-4CC9-7386-902567F6A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5F84AB-9DF9-83A0-ACED-67067EFA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4B4C6F-49BA-50D7-ED6E-3BF98B6A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5163C4-3CD5-E200-4C6A-BAB86A9B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9D702-9EDB-C2BA-6710-FB04F93F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460142-B76C-A93D-128B-97F2545222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3C2805-46EE-F2C2-12BA-1B3353D6F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835B4B-B67A-8128-D752-CCC8F028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A67D5B-3080-23D8-B91C-7480BB1F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6DDA2F-1E40-0F2E-88E8-714DDDA5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03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7D3FD-3C4A-9D84-D89D-C204E498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6188E-DAEC-4404-7D35-46E926830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F0068F-50E0-770D-A990-30F05FD04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DE38E3-8E5F-3563-4448-B69EB391B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E94212-60CA-EF42-92EF-AF1D9A0C1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CE3889-75A2-F26A-6D8C-B1115509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DE0BE4-B6EF-5ABB-A14B-A57CA461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33E17D-7D78-2CCE-3C7C-664F9EDB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21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1E82E-B5D2-6D16-099A-A5FCEFB0A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2C842C-0EBC-4711-1F57-0982C51A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8F440D-991A-7AF1-B843-4DA3484A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F7B5E0-C5B6-6E7D-3B44-6373CE88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10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8DCB70F-1663-94FF-A18F-3EF96D2B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31B245-8CAD-FA0D-F080-F66267165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0D941D-B69B-7352-797E-F66F6578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8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17E1E-8C31-C8AE-459D-3A134069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152E80-E9C4-AD9C-5DC0-A6D44124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223D78-969F-8A06-BC13-305D8D43F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A9206C-8584-74DE-D989-805066F7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FDF1E2-E658-F3CF-003A-E8E2B7BD9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11E04B-A322-60ED-B3C4-78D11570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06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270E2-C733-C825-8B6C-725CB1C3C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DC8B26-4EA3-0496-72E8-EC7A2DA37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4037A3-89C0-C901-4D20-DB29A315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C55946-2324-CE6F-5B32-191D49B6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072A9A-B21C-2D0C-8710-A31BA62F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B8ECAE-C69C-FD7F-5001-73F24D4A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46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3853E-BD9A-33EA-9919-D11E6981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E71076D-365B-D64A-55C6-F9034D0C2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EA5E6-2525-FD14-75BB-BDC5C39B8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673041-F142-CFCC-39AF-6144835D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8CAA10-D039-D49A-0D73-643DFF0C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51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15EBD7-D46D-A3C1-2D2B-33692D490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CDB556-AED6-5489-5F7A-4409B997D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9B929B-D23A-745E-3A8A-4FB19B45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65FDD2-C373-BFDB-D70D-11AF667F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6BE40-4474-97A9-D00B-6CAB5348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24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F2348-318C-12A6-C9C1-CD59AA1C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80FF98-6474-75D3-A193-7AA3F6630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D8B9D9-0C61-A952-8EA5-367380405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4A6E-8B80-42CD-B4EA-7FA103DA4F00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ECF65E-8C09-B13E-F802-8CC77C220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A5BECD-D88D-7D7A-8E02-E7EF80431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1DE30-F731-434D-8D2C-CD2FBE20FA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27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066C0-3272-D8B9-7E80-BFF6844D8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04"/>
            <a:ext cx="9144000" cy="18479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 Разработка подсистемы учёта клиентов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примере ООО КОДЭ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0B1C2-37DA-3E8D-AB6B-8E31205B1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797" y="4829607"/>
            <a:ext cx="9144000" cy="1665548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9\4-РПО-22\2-39: </a:t>
            </a:r>
          </a:p>
          <a:p>
            <a:pPr algn="l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Хоменко Роман Александрович</a:t>
            </a:r>
          </a:p>
          <a:p>
            <a:pPr algn="l"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Пузиков Денис Владимирович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AC79F-2AFE-735B-9E72-D1D9B0F3EB5A}"/>
              </a:ext>
            </a:extLst>
          </p:cNvPr>
          <p:cNvSpPr txBox="1"/>
          <p:nvPr/>
        </p:nvSpPr>
        <p:spPr>
          <a:xfrm>
            <a:off x="2728203" y="362845"/>
            <a:ext cx="67355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</a:p>
        </p:txBody>
      </p:sp>
    </p:spTree>
    <p:extLst>
      <p:ext uri="{BB962C8B-B14F-4D97-AF65-F5344CB8AC3E}">
        <p14:creationId xmlns:p14="http://schemas.microsoft.com/office/powerpoint/2010/main" val="65402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8C759-4E94-FB6D-360D-7450755F2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747"/>
            <a:ext cx="10515600" cy="798657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проблематика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F9030-98EE-B117-BBDA-EA9051B8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726"/>
            <a:ext cx="10515600" cy="55695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 ООО «КОДЭ» используется базовая версия CRM «Битрикс24», возможности которой ограничены для текущих бизнес-процессов компании.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требовало изменений: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ручного контроля входящих писем (риск пропуска заявок).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Ограниченная настройка статусов сделок под рабочие процессы.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планирования встреч и контроль задач вручную, без автоматических подсказок.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 по воронке продаж и KPI менеджеров требует отдельной выгрузки данных.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коммерческих предложений выполняется в ручном режиме.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Потребность IT-компании в CRM-системе, адаптированной под задачи разработки ПО и обеспечивающей полный цикл управления проектами и продажами.</a:t>
            </a:r>
          </a:p>
        </p:txBody>
      </p:sp>
    </p:spTree>
    <p:extLst>
      <p:ext uri="{BB962C8B-B14F-4D97-AF65-F5344CB8AC3E}">
        <p14:creationId xmlns:p14="http://schemas.microsoft.com/office/powerpoint/2010/main" val="12860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384FCB-B986-B643-FB35-B7F5685E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AB92B-FF51-7BB0-E2B3-E522A5F8E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Деятельность отдела коммерции ООО «КОДЭ» в сегменте учёта клиентов и заявок на разработку ПО.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Методы, инструменты и технологии проектирования и разработки подсистемы учёта клиентов (ролевая модель,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автозахват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писем, воронка продаж,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follow-up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3414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8329F-69E7-3144-2983-6ABCEA0C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028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D77F2-8BF5-F4D9-E9E3-AB3FDD06F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154"/>
            <a:ext cx="10515600" cy="5162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Разработать подсистему учёта клиентов и заявок для ООО «КОДЭ», обеспечивающую автоматизацию ключевых процессов отдела продаж.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бизнес-процессы и составить ТЗ.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 и базу данных.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модули: аутентификация, сделки,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автозахват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писем, встречи,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follow-up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документы, аналитика.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(функциональное + юнит-тесты).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документацию (руководство программиста и оператора).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достижение цели.</a:t>
            </a:r>
          </a:p>
        </p:txBody>
      </p:sp>
    </p:spTree>
    <p:extLst>
      <p:ext uri="{BB962C8B-B14F-4D97-AF65-F5344CB8AC3E}">
        <p14:creationId xmlns:p14="http://schemas.microsoft.com/office/powerpoint/2010/main" val="1814877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7BE4D-6CBC-7B01-7E0C-3CC01188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разработки (этапы)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DF63B1-345C-E54F-2939-3051ACE5D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079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создания подсистемы (34 рабочих дней):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требований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 и архитектуры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бэкенда (C# +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ASP.NET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фронтенда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и отладка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(модульное + функциональное)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90825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F9E07D-38F9-A100-24D8-3CCF7D01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65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4420E3E-5D58-F93B-4688-93A45782C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844021"/>
              </p:ext>
            </p:extLst>
          </p:nvPr>
        </p:nvGraphicFramePr>
        <p:xfrm>
          <a:off x="838200" y="1492675"/>
          <a:ext cx="10515600" cy="3872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63342">
                  <a:extLst>
                    <a:ext uri="{9D8B030D-6E8A-4147-A177-3AD203B41FA5}">
                      <a16:colId xmlns:a16="http://schemas.microsoft.com/office/drawing/2014/main" val="303485616"/>
                    </a:ext>
                  </a:extLst>
                </a:gridCol>
                <a:gridCol w="5252258">
                  <a:extLst>
                    <a:ext uri="{9D8B030D-6E8A-4147-A177-3AD203B41FA5}">
                      <a16:colId xmlns:a16="http://schemas.microsoft.com/office/drawing/2014/main" val="1034249408"/>
                    </a:ext>
                  </a:extLst>
                </a:gridCol>
              </a:tblGrid>
              <a:tr h="1067205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Бекенд</a:t>
                      </a:r>
                      <a:endParaRPr lang="ru-RU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Фронтенд</a:t>
                      </a:r>
                      <a:endParaRPr lang="ru-RU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362508"/>
                  </a:ext>
                </a:extLst>
              </a:tr>
              <a:tr h="2805444">
                <a:tc>
                  <a:txBody>
                    <a:bodyPr/>
                    <a:lstStyle/>
                    <a:p>
                      <a:pPr algn="just"/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Язык 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C# / .NET 8 / </a:t>
                      </a:r>
                      <a:r>
                        <a:rPr lang="en-US" sz="2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ASP.NET 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Core</a:t>
                      </a:r>
                    </a:p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Entity Framework Core</a:t>
                      </a:r>
                    </a:p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PostgreSQL 17</a:t>
                      </a:r>
                    </a:p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JWT (</a:t>
                      </a: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аутентификация)</a:t>
                      </a:r>
                    </a:p>
                    <a:p>
                      <a:pPr algn="just"/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QuestPDF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генерация 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PDF)</a:t>
                      </a:r>
                    </a:p>
                    <a:p>
                      <a:pPr algn="just"/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MailKit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почта: 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IMAP + SMTP)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Angular 1</a:t>
                      </a: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endParaRPr lang="en-US" sz="24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TypeScript</a:t>
                      </a:r>
                    </a:p>
                    <a:p>
                      <a:pPr algn="just"/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HTML5/CSS3</a:t>
                      </a:r>
                    </a:p>
                    <a:p>
                      <a:pPr algn="just"/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0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47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ED6E5-E46A-77F9-0B34-25EFE2A3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522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кода: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Автозахват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писем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E6D4E1F-C22E-9D1E-1BE0-1E9CD94EF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14648"/>
            <a:ext cx="4920487" cy="261435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0046D0-B692-9979-EE97-1DC890F9A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997" y="814648"/>
            <a:ext cx="5229352" cy="58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6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1477B-9F96-671E-8A0A-F34737E5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65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Юнит-тестирование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EmailParserService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E656C97-8046-1E67-8170-732CC6913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453" y="897776"/>
            <a:ext cx="9617093" cy="568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2AD21-0E95-761C-90E9-D501F36E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профессиональным компетенциям (ПК)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A29607A-FDFF-DFFF-5F72-2D09EEFC8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045209"/>
              </p:ext>
            </p:extLst>
          </p:nvPr>
        </p:nvGraphicFramePr>
        <p:xfrm>
          <a:off x="838200" y="1008409"/>
          <a:ext cx="10515600" cy="5623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29185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54982952"/>
                    </a:ext>
                  </a:extLst>
                </a:gridCol>
              </a:tblGrid>
              <a:tr h="4893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Реализация в проекте</a:t>
                      </a:r>
                      <a:endParaRPr lang="ru-RU" sz="2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972904"/>
                  </a:ext>
                </a:extLst>
              </a:tr>
              <a:tr h="4893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1.1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Блок-схемы алгоритмов, описание модулей в ТЗ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095327"/>
                  </a:ext>
                </a:extLst>
              </a:tr>
              <a:tr h="778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1.2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код (C#, </a:t>
                      </a:r>
                      <a:r>
                        <a:rPr lang="ru-RU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Angular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в приложениях к диплому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537149"/>
                  </a:ext>
                </a:extLst>
              </a:tr>
              <a:tr h="778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1.3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Отладка в Visual Studio, точки останова, логирование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674367"/>
                  </a:ext>
                </a:extLst>
              </a:tr>
              <a:tr h="48938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1.4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Юнит-тесты (</a:t>
                      </a:r>
                      <a:r>
                        <a:rPr lang="en-US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xUnit</a:t>
                      </a: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Moq</a:t>
                      </a: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Jasmine)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057433"/>
                  </a:ext>
                </a:extLst>
              </a:tr>
              <a:tr h="778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1.5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Рефакторинг, оптимизация LINQ-запросов, индексы БД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28992"/>
                  </a:ext>
                </a:extLst>
              </a:tr>
              <a:tr h="7781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2.1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Диаграмма компонентов, требования к интерфейсам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85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43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D25BB03-495B-7ECE-1B9B-248D8156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962977"/>
              </p:ext>
            </p:extLst>
          </p:nvPr>
        </p:nvGraphicFramePr>
        <p:xfrm>
          <a:off x="838200" y="201930"/>
          <a:ext cx="10515600" cy="6454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423682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1751732"/>
                    </a:ext>
                  </a:extLst>
                </a:gridCol>
              </a:tblGrid>
              <a:tr h="41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2.2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Сборка и интеграция модулей в единое приложение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020529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2.3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Сквозная отладка (E2E-сценарии: создание сделки → встреча → КП)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951979"/>
                  </a:ext>
                </a:extLst>
              </a:tr>
              <a:tr h="26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2.4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Тест-кейсы, функциональное тестирование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2472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4.1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Инсталлятор (</a:t>
                      </a:r>
                      <a:r>
                        <a:rPr lang="ru-RU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конфигурационные файлы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24747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4.4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JWT-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аутентификация, роли </a:t>
                      </a: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 / </a:t>
                      </a:r>
                      <a:r>
                        <a:rPr lang="en-US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HeadOfSales</a:t>
                      </a: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Admin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80501"/>
                  </a:ext>
                </a:extLst>
              </a:tr>
              <a:tr h="26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11.2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ER-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диаграмма (логическая модель данных)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156199"/>
                  </a:ext>
                </a:extLst>
              </a:tr>
              <a:tr h="4143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ПК 11.3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Таблицы, представления (SQL), триггеры (</a:t>
                      </a:r>
                      <a:r>
                        <a:rPr lang="ru-RU" sz="24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updated_at</a:t>
                      </a:r>
                      <a:r>
                        <a:rPr lang="ru-RU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703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26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AC8D2-D931-DAF1-E3FE-7C2B0352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499"/>
            <a:ext cx="10515600" cy="715529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 модульное и функциональное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CD1941-917F-5151-C292-03C762AF8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027"/>
            <a:ext cx="10515600" cy="5445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тестирование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Проверена ключевая бизнес-логика сервисов (сделки, авторизация, обработка данных)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Зависимости изолированы через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-объекты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уровень покрытия кода тестами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Охвачены основные пользовательские сценарии (аутентификация, работа со сделками, встречами, документами, аналитика,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follow-up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критические дефекты (проблемы кодировки данных) оперативно исправлены</a:t>
            </a:r>
          </a:p>
        </p:txBody>
      </p:sp>
    </p:spTree>
    <p:extLst>
      <p:ext uri="{BB962C8B-B14F-4D97-AF65-F5344CB8AC3E}">
        <p14:creationId xmlns:p14="http://schemas.microsoft.com/office/powerpoint/2010/main" val="1104380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23F19-3F24-DA23-B2F8-7FF9F10B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65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цели достигнуты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06B46-4BAA-2425-AB31-FC5FDA453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478"/>
            <a:ext cx="10515600" cy="5415395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подсистема учёта клиентов на C# +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автозахват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писем (IMAP) → сделки создаются автоматически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Статусная модель сделок (8 статусов) и допустимые переходы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Встречи,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follow-up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задачи, напоминания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и КП (PDF)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Аналитика: воронка продаж, KPI менеджеров, прогноз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роли: менеджер, руководитель, администратор</a:t>
            </a:r>
          </a:p>
        </p:txBody>
      </p:sp>
    </p:spTree>
    <p:extLst>
      <p:ext uri="{BB962C8B-B14F-4D97-AF65-F5344CB8AC3E}">
        <p14:creationId xmlns:p14="http://schemas.microsoft.com/office/powerpoint/2010/main" val="2977866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645</Words>
  <Application>Microsoft Office PowerPoint</Application>
  <PresentationFormat>Широкоэкранный</PresentationFormat>
  <Paragraphs>94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Выпускная квалификационная работа на тему: « Разработка подсистемы учёта клиентов  (на примере ООО КОДЭ)»</vt:lpstr>
      <vt:lpstr>Актуальность и проблематика исследования</vt:lpstr>
      <vt:lpstr>Объект и предмет исследования</vt:lpstr>
      <vt:lpstr>Цель и задачи работы</vt:lpstr>
      <vt:lpstr>Ход разработки (этапы)</vt:lpstr>
      <vt:lpstr>Стек технологий</vt:lpstr>
      <vt:lpstr>Демонстрация кода: Автозахват писем</vt:lpstr>
      <vt:lpstr>Юнит-тестирование EmailParserService</vt:lpstr>
      <vt:lpstr>Соответствие профессиональным компетенциям (ПК)</vt:lpstr>
      <vt:lpstr>Презентация PowerPoint</vt:lpstr>
      <vt:lpstr>Тестирование: модульное и функциональное</vt:lpstr>
      <vt:lpstr>Результаты: цели достигнуты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Роман Хоменко</cp:lastModifiedBy>
  <cp:revision>3</cp:revision>
  <dcterms:created xsi:type="dcterms:W3CDTF">2026-05-26T09:28:11Z</dcterms:created>
  <dcterms:modified xsi:type="dcterms:W3CDTF">2026-05-29T09:32:16Z</dcterms:modified>
</cp:coreProperties>
</file>